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5" r:id="rId9"/>
    <p:sldId id="261" r:id="rId10"/>
    <p:sldId id="264" r:id="rId11"/>
    <p:sldId id="262" r:id="rId12"/>
    <p:sldId id="263" r:id="rId13"/>
  </p:sldIdLst>
  <p:sldSz cx="12191365" cy="6858000"/>
  <p:notesSz cx="6858000" cy="9144000"/>
  <p:embeddedFontLst>
    <p:embeddedFont>
      <p:font typeface="Hiragino Sans GB" panose="020B0300000000000000" charset="-122"/>
      <p:regular r:id="rId17"/>
    </p:embeddedFont>
  </p:embeddedFontLst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项目来源：GitHub 开源原型 https://github.com/wangweihang1007-dev/chainjian-aml。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个人经历来源：简历。项目技术和功能来源：链鉴 AML GitHub 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技术组件与功能边界来源：链鉴 AML GitHub README。竞赛成绩由候选人提供。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场景、能力边界和数据处理方式来源：链鉴 AML GitHub README 与项目视频脚本。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技术架构与降级策略来源：链鉴 AML GitHub 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步骤不超过 4 个。演示 demo 可以在这一页打开，但不要把整页变成截图墙。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项目截图来源：链鉴 AML GitHub 仓库。视频保留位置：项目仓库 assets/参赛视频.mp4。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项目仓库：https://github.com/wangweihang1007-dev/chainjian-aml。参赛视频：仓库 assets/参赛视频.mp4。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wangweihang1007-dev/chainjian-aml/blob/main/assets/%E5%8F%82%E8%B5%9B%E8%A7%86%E9%A2%91.mp4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8912"/>
            <a:ext cx="2880360" cy="297404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658368" y="1051560"/>
            <a:ext cx="822960" cy="82296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58368" y="129844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</a:t>
            </a: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进阶之旅</a:t>
            </a: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 ·  2026.10.17</a:t>
            </a: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－</a:t>
            </a: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</a:t>
            </a:r>
            <a:endParaRPr sz="14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1664208"/>
            <a:ext cx="106070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链鉴 AML</a:t>
            </a:r>
            <a:endParaRPr sz="60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2861310"/>
            <a:ext cx="10607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面向反洗钱调查的智能审查与证据链平台</a:t>
            </a:r>
            <a:endParaRPr sz="22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3566160"/>
            <a:ext cx="106070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王伟航</a:t>
            </a:r>
            <a:endParaRPr sz="18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FDE 方向 · 金融科技硕士 </a:t>
            </a:r>
            <a:endParaRPr sz="16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这道菜</a:t>
            </a:r>
            <a:r>
              <a:rPr lang="zh-CN"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从需求调研到项目落地在三天内完成</a:t>
            </a:r>
            <a:br>
              <a:rPr lang="zh-CN"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</a:br>
            <a:r>
              <a:rPr lang="zh-CN"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利用知识图谱和分析引擎解决反洗钱证据调查中的痛点</a:t>
            </a:r>
            <a:r>
              <a:rPr lang="zh-CN"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问题</a:t>
            </a:r>
            <a:endParaRPr lang="zh-CN" sz="16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8368" y="490093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2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0" name="图片 9" descr="6ef83dab6e12ad274a4a3d8c4bb973f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501390"/>
            <a:ext cx="1962785" cy="3374390"/>
          </a:xfrm>
          <a:prstGeom prst="rect">
            <a:avLst/>
          </a:prstGeom>
        </p:spPr>
      </p:pic>
      <p:pic>
        <p:nvPicPr>
          <p:cNvPr id="11" name="图片 10" descr="d548dee70baf7f976115b09c2341b595"/>
          <p:cNvPicPr>
            <a:picLocks noChangeAspect="1"/>
          </p:cNvPicPr>
          <p:nvPr/>
        </p:nvPicPr>
        <p:blipFill>
          <a:blip r:embed="rId1"/>
          <a:srcRect t="37231" r="19397" b="24816"/>
          <a:stretch>
            <a:fillRect/>
          </a:stretch>
        </p:blipFill>
        <p:spPr>
          <a:xfrm>
            <a:off x="6591300" y="0"/>
            <a:ext cx="5600700" cy="3518535"/>
          </a:xfrm>
          <a:prstGeom prst="rect">
            <a:avLst/>
          </a:prstGeom>
        </p:spPr>
      </p:pic>
      <p:pic>
        <p:nvPicPr>
          <p:cNvPr id="12" name="图片 11" descr="2e530c11ea0ce4d73efb33bb6a50c2b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945" y="3498850"/>
            <a:ext cx="1963420" cy="3359785"/>
          </a:xfrm>
          <a:prstGeom prst="rect">
            <a:avLst/>
          </a:prstGeom>
        </p:spPr>
      </p:pic>
      <p:pic>
        <p:nvPicPr>
          <p:cNvPr id="14" name="图片 13" descr="a0aadbde-e901-4fc5-927d-d522afc7efe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175" y="3497580"/>
            <a:ext cx="2223770" cy="3373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  个人介绍  ·  约 1 分钟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我是谁，以及为什么做链鉴 AML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54480"/>
            <a:ext cx="73152" cy="126187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31520" y="1554480"/>
            <a:ext cx="10789920" cy="1261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60120" y="1664207"/>
            <a:ext cx="10332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   我是</a:t>
            </a: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王伟航</a:t>
            </a:r>
            <a:endParaRPr lang="zh-CN"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960120" y="2011680"/>
            <a:ext cx="10332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indent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我是王伟航，东北财经大学金融科技硕士在读，专业排名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No.1，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综合成绩90.815，本科软件工程+金融学双学位。 曾获研究生国家奖学金，累计获国家级奖项7项、省部级2项、校级4项、荣誉称号5项共18项荣誉， 有4篇论文在投、省级课题3项。 分别在超聚变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冯源私募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港中文深圳数据经济研究院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华为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中国联通实习担任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开发、投研、数据研发等工作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lang="en-US" altLang="zh-CN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58368" y="2944368"/>
            <a:ext cx="73152" cy="126187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31520" y="2944368"/>
            <a:ext cx="10789920" cy="1261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60120" y="3054096"/>
            <a:ext cx="10332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   和这道菜的关系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960120" y="3401568"/>
            <a:ext cx="10332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indent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在这个项目里，我主导了方案设计、系统架构、原型设计和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MVP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开发。项目看起来涉及规则、图谱、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Agent、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报告生成等很多模块，但我认为它的核心并不复杂：让原本分散的交易、账户、规则和材料，最终能够组成一条可核验的调查证据链。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58368" y="4334256"/>
            <a:ext cx="73152" cy="126187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31520" y="4334256"/>
            <a:ext cx="10789920" cy="1261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457200" algn="l">
              <a:buNone/>
            </a:pPr>
            <a:r>
              <a:rPr lang="zh-CN" altLang="en-US" sz="140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如何把一个反洗钱调查的问题，做成可运行、可评估的产品原型。</a:t>
            </a:r>
            <a:endParaRPr lang="zh-CN" altLang="en-US" sz="140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60120" y="4443984"/>
            <a:ext cx="10332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   今天只讲一件事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960120" y="4791710"/>
            <a:ext cx="10332720" cy="7937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TextBox 20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 擅长领域  ·  约 1.5 分钟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链鉴 AML 证明的三项能力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54480"/>
            <a:ext cx="3383280" cy="416052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58368" y="1554480"/>
            <a:ext cx="73152" cy="416052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14400" y="1755648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会发现</a:t>
            </a:r>
            <a:endParaRPr sz="2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914400" y="2331720"/>
            <a:ext cx="29260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反洗钱工作中的难点并不只是发现一笔异常交易，而是调查人员需要反复在交易系统、账户资料、关系图谱和案件材料之间切换，才能把线索串成一个完整结论。这个过程耗时长，也容易遗漏证据。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Connector 10"/>
          <p:cNvSpPr>
            <a:spLocks noGrp="1"/>
          </p:cNvSpPr>
          <p:nvPr/>
        </p:nvSpPr>
        <p:spPr>
          <a:xfrm>
            <a:off x="914400" y="4023360"/>
            <a:ext cx="2852928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TextBox 11"/>
          <p:cNvSpPr>
            <a:spLocks noGrp="1"/>
          </p:cNvSpPr>
          <p:nvPr/>
        </p:nvSpPr>
        <p:spPr>
          <a:xfrm>
            <a:off x="914400" y="416052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证据：</a:t>
            </a: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完成调研与业务流程梳理，明确核心痛点。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270248" y="1554480"/>
            <a:ext cx="3383280" cy="416052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270248" y="1554480"/>
            <a:ext cx="73152" cy="416052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4526280" y="1755648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会复用</a:t>
            </a:r>
            <a:endParaRPr sz="2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526280" y="2331720"/>
            <a:ext cx="29260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把已有的本体建模、规则引擎、图数据库、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GraphRAG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和多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技术，放到同一个业务流程里，让每一种技术只做它擅长的事情。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Connector 16"/>
          <p:cNvSpPr>
            <a:spLocks noGrp="1"/>
          </p:cNvSpPr>
          <p:nvPr/>
        </p:nvSpPr>
        <p:spPr>
          <a:xfrm>
            <a:off x="4526280" y="4023360"/>
            <a:ext cx="2852928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4526280" y="416052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证据：</a:t>
            </a: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完成调查工作台核心功能研发。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882128" y="1554480"/>
            <a:ext cx="3383280" cy="416052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882128" y="1554480"/>
            <a:ext cx="73152" cy="416052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8138160" y="1755648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能讲清</a:t>
            </a:r>
            <a:endParaRPr sz="2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8138160" y="2331720"/>
            <a:ext cx="29260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把技术语言翻译成业务语言。对银行来说，他们关心的不是模型多先进，而是系统能否帮助他们更快定位关键交易、说明判断依据、形成审核材料，并且满足私有化部署和审计要求。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Connector 22"/>
          <p:cNvSpPr>
            <a:spLocks noGrp="1"/>
          </p:cNvSpPr>
          <p:nvPr/>
        </p:nvSpPr>
        <p:spPr>
          <a:xfrm>
            <a:off x="8138160" y="4023360"/>
            <a:ext cx="2852928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TextBox 23"/>
          <p:cNvSpPr>
            <a:spLocks noGrp="1"/>
          </p:cNvSpPr>
          <p:nvPr/>
        </p:nvSpPr>
        <p:spPr>
          <a:xfrm>
            <a:off x="8138160" y="416052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证据：</a:t>
            </a: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项目最终在华为黑客松中取得全国第二，也说明这套表达和落地逻辑得到了现场验证。同时项目已形成完善商业计划书</a:t>
            </a:r>
            <a:r>
              <a:rPr lang="en-US" altLang="zh-CN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</a:t>
            </a: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投稿至工行杯</a:t>
            </a:r>
            <a:r>
              <a:rPr lang="en-US" altLang="zh-CN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lang="en-US" altLang="zh-CN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Connector 25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TextBox 26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 做事过程  ·  问题与场景  ·  约 1.5 分钟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反洗钱调查中的真实问题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36192"/>
            <a:ext cx="2194560" cy="1353312"/>
          </a:xfrm>
          <a:prstGeom prst="rect">
            <a:avLst/>
          </a:prstGeom>
          <a:solidFill>
            <a:srgbClr val="E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22960" y="1828800"/>
            <a:ext cx="187451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</a:t>
            </a:r>
            <a:endParaRPr sz="20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60" y="2267712"/>
            <a:ext cx="187451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银行合规与反洗钱调查</a:t>
            </a:r>
            <a:endParaRPr sz="12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852928" y="1536192"/>
            <a:ext cx="8686800" cy="135331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063240" y="1792224"/>
            <a:ext cx="82753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</a:t>
            </a:r>
            <a:r>
              <a:rPr lang="zh-CN" altLang="en-US" sz="15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反洗钱收到一条可疑交易线索后，往往需要查看交易流水、账户信息、关系网络、历史材料和审核记录。单笔交易有时看起来正常，但放到多个账户、多次转移和时间顺序里，可能就构成了拆分转账、资金归集或多跳转移。</a:t>
            </a:r>
            <a:endParaRPr lang="zh-CN" altLang="en-US" sz="15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58368" y="2999232"/>
            <a:ext cx="2194560" cy="1353312"/>
          </a:xfrm>
          <a:prstGeom prst="rect">
            <a:avLst/>
          </a:prstGeom>
          <a:solidFill>
            <a:srgbClr val="E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22960" y="3291840"/>
            <a:ext cx="187451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问题</a:t>
            </a:r>
            <a:endParaRPr sz="20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822960" y="3730752"/>
            <a:ext cx="187451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告警多，结论难复核</a:t>
            </a:r>
            <a:endParaRPr sz="12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852928" y="2999232"/>
            <a:ext cx="8686800" cy="135331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3063240" y="3255264"/>
            <a:ext cx="82753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第一，信息分散，调查人员需要重复检索和拼接。第二，结论难复核，一份报告如果说某个账户有风险，就必须回答风险来自哪条交易、哪条规则、哪条资金路径。</a:t>
            </a:r>
            <a:endParaRPr lang="zh-CN" altLang="en-US" sz="15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58368" y="4462272"/>
            <a:ext cx="2194560" cy="1353312"/>
          </a:xfrm>
          <a:prstGeom prst="rect">
            <a:avLst/>
          </a:prstGeom>
          <a:solidFill>
            <a:srgbClr val="E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22960" y="4754880"/>
            <a:ext cx="187451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约束</a:t>
            </a:r>
            <a:endParaRPr sz="20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822960" y="5193792"/>
            <a:ext cx="187451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明确</a:t>
            </a:r>
            <a:r>
              <a:rPr lang="zh-CN" sz="12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约束</a:t>
            </a:r>
            <a:endParaRPr lang="zh-CN" sz="12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2852928" y="4462272"/>
            <a:ext cx="8686800" cy="135331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3063240" y="4718304"/>
            <a:ext cx="82753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金融数据敏感，需要权限隔离、审计留痕和私有化部署。更重要的是，系统只能辅助调查，不能让黑箱模型替代人工完成风险认定、账户处置和监管报送。</a:t>
            </a:r>
            <a:endParaRPr lang="zh-CN" altLang="en-US" sz="15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Connector 22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TextBox 23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 做事过程  ·  发现与复用  ·  约 2 分钟  ·  本营最看重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我如何发现并复用现成能力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36192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58368" y="1536192"/>
            <a:ext cx="5440680" cy="64008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59536" y="17373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我先去哪找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59536" y="2176272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围绕反洗钱、资金图谱、可疑交易检测和多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调查，检索了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GitHub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开源项目、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Neo4j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的图数据库实践、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GraphRAG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技术资料和行业规则口径。筛选标准很简单：它是否能解决调查流程中的一个具体环节。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355080" y="1536192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355080" y="1536192"/>
            <a:ext cx="5440680" cy="64008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556248" y="17373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复用了什么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556248" y="2176272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我复用了图数据库的关系建模能力、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VOG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GraphRAG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等检索和知识组织思路和多智能体组织方式，以及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的任务编排模式。同时把已完成的业务沉淀进入系统中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lang="en-US" altLang="zh-CN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58368" y="3703320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58368" y="3703320"/>
            <a:ext cx="5440680" cy="64008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59536" y="3904487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我只自制了什么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59536" y="434340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真正需要自己完成的，是场景层的设计。比如账户、交易、案件和证据之间如何关联；规则命中后如何形成风险评分；多个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如何分工；报告中的结论如何回到证据；人工审核如何留下完整记录。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55080" y="3703320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355080" y="3703320"/>
            <a:ext cx="5440680" cy="64008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556248" y="3904487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我明确放弃了什么</a:t>
            </a:r>
            <a:endParaRPr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556248" y="434340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放弃从零训练大模型、重写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知识和通用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框架；也不以黑箱自动定案，而保留人工复核、证据引用、权限控制与私有化部署能力。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Connector 23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5" name="TextBox 24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a6b88a0-c66f-4cbf-acc9-768d49a9bb5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1955"/>
            <a:ext cx="12191365" cy="605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 做事过程  ·  路径与步骤  ·  约 2 分钟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做成这件事</a:t>
            </a: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的关键路径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36192"/>
            <a:ext cx="2606040" cy="28803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22959" y="1664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28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59" y="2176272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梳理调查链路</a:t>
            </a:r>
            <a:endParaRPr lang="zh-CN" altLang="en-US"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22959" y="274320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输入：访谈与业务流程、账户和交易数据。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输出：明确“数据导入—规则预警—图谱追踪—证据核验—报告审核”的核心闭环。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447287" y="1536192"/>
            <a:ext cx="2606040" cy="28803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611879" y="1664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</a:t>
            </a:r>
            <a:endParaRPr sz="28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611879" y="2176272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确定技术</a:t>
            </a: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路线</a:t>
            </a:r>
            <a:endParaRPr lang="zh-CN"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611879" y="274320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优先选用规则引擎与资金图谱，再引入 </a:t>
            </a:r>
            <a:r>
              <a:rPr lang="en-US" altLang="zh-CN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GraphRAG </a:t>
            </a: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和多智能体。因为反洗钱首先要求可解释、可追溯，不能只依赖大模型判断。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236207" y="1536192"/>
            <a:ext cx="2606040" cy="28803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400799" y="1664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endParaRPr sz="28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400799" y="2176272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交付</a:t>
            </a:r>
            <a:r>
              <a:rPr lang="en-US" alt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MVP</a:t>
            </a:r>
            <a:r>
              <a:rPr lang="zh-CN" altLang="en-US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版本</a:t>
            </a:r>
            <a:endParaRPr lang="zh-CN" altLang="en-US"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400799" y="274320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搭建交易数据导入、风险规则命中、资金路径展示、证据链整理和调查报告生成，让完整流程可演示、可操作</a:t>
            </a:r>
            <a:r>
              <a:rPr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025128" y="1536192"/>
            <a:ext cx="2606040" cy="28803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9189719" y="1664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</a:t>
            </a:r>
            <a:endParaRPr sz="28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189719" y="2176272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验证并评估系统</a:t>
            </a:r>
            <a:r>
              <a:rPr lang="zh-CN" sz="16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性能</a:t>
            </a:r>
            <a:endParaRPr lang="zh-CN" sz="16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9189719" y="274320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以模拟可疑交易数据进行端到端演示：从预警发现异常，到定位关联账户、引用证据，再到生成待审核报告。</a:t>
            </a:r>
            <a:endParaRPr lang="zh-CN" altLang="en-US" sz="13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58368" y="4553712"/>
            <a:ext cx="10881360" cy="1170432"/>
          </a:xfrm>
          <a:prstGeom prst="rect">
            <a:avLst/>
          </a:prstGeom>
          <a:solidFill>
            <a:srgbClr val="E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68680" y="4645152"/>
            <a:ext cx="10469880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最大的卡点是，固定规则可以识别已知模式，却可能遗漏新的风险手法；但如果让模型直接在线调整规则，又会带来合规和审计风险。所以我们采用受控自进化方式：将人工审核反馈、误报原因和新增模式沉淀为规则候选，先离线评估，再由人工审批、版本发布和上线复盘。这样系统可以迭代，但每一次变化都能追溯，也可以回滚。</a:t>
            </a:r>
            <a:endParaRPr lang="zh-CN" altLang="en-US" sz="14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Connector 25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TextBox 26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1fe68881559a392f1bd824ad07ef27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58368" y="256032"/>
            <a:ext cx="658368" cy="73152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01168"/>
            <a:ext cx="2011680" cy="207711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368" y="420624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 成果收获  ·  约 2 分钟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原型成果、收获与边界</a:t>
            </a:r>
            <a:endParaRPr sz="32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58368" y="1536192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59536" y="1700784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</a:t>
            </a:r>
            <a:endParaRPr sz="18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59536" y="20116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可运行原型与全国第二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59536" y="2340864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IBM AML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合成数据的 4,756 笔交易上，查准率 59.52%，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F1 47.17%，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它让我们知道系统的问题不只是“能不能跑”，而是哪些规则存在误报，哪些风险模式仍有漏报。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系统已将这些指标接入监控，并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可以据此生成规则优化提案。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355080" y="1536192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556248" y="1700784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收获</a:t>
            </a:r>
            <a:endParaRPr sz="18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556248" y="20116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可追溯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556248" y="2340864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58368" y="3703320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59536" y="3867911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边界</a:t>
            </a:r>
            <a:endParaRPr sz="18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59536" y="417880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模拟数据</a:t>
            </a:r>
            <a:endParaRPr lang="zh-CN"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59536" y="4507992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目前项目使用的是合成数据，尚未经过银行真实生产数据、权限体系、并发性能和长期运行的验证。后续需要通过客户授权的脱敏数据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POC，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继续评估误报率、调查时长和审核认可度。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55080" y="3703320"/>
            <a:ext cx="5440680" cy="1965960"/>
          </a:xfrm>
          <a:prstGeom prst="rect">
            <a:avLst/>
          </a:prstGeom>
          <a:solidFill>
            <a:srgbClr val="F3F3F3"/>
          </a:solidFill>
          <a:ln w="9525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556248" y="3867911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可迁移</a:t>
            </a:r>
            <a:endParaRPr sz="1800" b="1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556248" y="417880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FDE 的交付方法</a:t>
            </a:r>
            <a:endParaRPr sz="12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556248" y="4507992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可以迁移到医保费用异常、供应链风险排查、涉诈资金研判等场景。迁移的不是一个反洗钱模型，而是“规则发现线索、关系网络还原事实、人工审核确认结论、指标驱动迭代”的工作方法。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Connector 23"/>
          <p:cNvSpPr>
            <a:spLocks noGrp="1"/>
          </p:cNvSpPr>
          <p:nvPr/>
        </p:nv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5" name="TextBox 24"/>
          <p:cNvSpPr>
            <a:spLocks noGrp="1"/>
          </p:cNvSpPr>
          <p:nvPr/>
        </p:nvSpPr>
        <p:spPr>
          <a:xfrm>
            <a:off x="658368" y="6528816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AI人才进阶之旅  ·  拿手菜展示模板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9509760" y="6528816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  /  10</a:t>
            </a:r>
            <a:endParaRPr sz="10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TextBox 21"/>
          <p:cNvSpPr>
            <a:spLocks noGrp="1"/>
          </p:cNvSpPr>
          <p:nvPr/>
        </p:nvSpPr>
        <p:spPr>
          <a:xfrm>
            <a:off x="6683248" y="2315972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是学会用指标驱动迭代。金融场景中的 </a:t>
            </a:r>
            <a:r>
              <a:rPr lang="en-US" altLang="zh-CN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</a:t>
            </a:r>
            <a:r>
              <a:rPr lang="zh-CN" altLang="en-US"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落地，不能只展示功能，也不能只追求模型回答得是否流畅。真正重要的是结论能否回到交易、账户、规则和证据，过程能否审计，效果能否量化。</a:t>
            </a:r>
            <a:endParaRPr lang="zh-CN" altLang="en-US"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2880360" cy="297404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658368" y="1051560"/>
            <a:ext cx="822960" cy="82296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58368" y="129844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47B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收束  ·  约 30 秒</a:t>
            </a:r>
            <a:endParaRPr sz="1400" b="1">
              <a:solidFill>
                <a:srgbClr val="0047B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58368" y="1737360"/>
            <a:ext cx="10607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链鉴 AML 证明</a:t>
            </a:r>
            <a:endParaRPr sz="18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链鉴 </a:t>
            </a:r>
            <a:r>
              <a:rPr lang="en-US" altLang="zh-CN" sz="2600" b="1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AML </a:t>
            </a:r>
            <a:r>
              <a:rPr lang="zh-CN" altLang="en-US" sz="2600" b="1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证明我能够从业务流程中发现问题，复用合适的技术快速做出原型，并用查准率、召回率和 </a:t>
            </a:r>
            <a:r>
              <a:rPr lang="en-US" altLang="zh-CN" sz="2600" b="1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F1 </a:t>
            </a:r>
            <a:r>
              <a:rPr lang="zh-CN" altLang="en-US" sz="2600" b="1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等指标判断效果与下一步优化方向。</a:t>
            </a:r>
            <a:endParaRPr lang="zh-CN" altLang="en-US" sz="2600" b="1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3108960"/>
            <a:ext cx="10607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若进入下一步，我愿意</a:t>
            </a:r>
            <a:r>
              <a:rPr lang="zh-CN" sz="1600" b="0">
                <a:solidFill>
                  <a:srgbClr val="79797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把</a:t>
            </a:r>
            <a:endParaRPr sz="1600" b="0">
              <a:solidFill>
                <a:srgbClr val="79797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这套“梳理流程—建立指标—快速验证—人工复核—持续迭代”的方法，用在半岛医疗的运营分析、费用异常识别、供应链风险排查等需要数据支撑和可追溯决策的业务问题上。</a:t>
            </a:r>
            <a:endParaRPr lang="zh-CN" altLang="en-US" sz="20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4709160"/>
            <a:ext cx="106070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谢谢</a:t>
            </a:r>
            <a:r>
              <a:rPr lang="zh-CN" sz="1600" b="0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各位老师</a:t>
            </a:r>
            <a:r>
              <a:rPr sz="1600" b="0">
                <a:solidFill>
                  <a:srgbClr val="17171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sz="1600" b="0">
              <a:solidFill>
                <a:srgbClr val="17171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项目演示视频链接已保留，可在 </a:t>
            </a:r>
            <a:r>
              <a:rPr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2"/>
              </a:rPr>
              <a:t>GitHub 仓库</a:t>
            </a:r>
            <a:r>
              <a:rPr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查看。</a:t>
            </a:r>
            <a:endParaRPr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8A90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王伟航 · 链鉴 AML</a:t>
            </a:r>
            <a:endParaRPr sz="1400" b="0">
              <a:solidFill>
                <a:srgbClr val="8A90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2870</Words>
  <Application>WPS 表格</Application>
  <PresentationFormat>Converted Presentation</PresentationFormat>
  <Paragraphs>185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Hiragino Sans GB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a123</cp:lastModifiedBy>
  <cp:revision>3</cp:revision>
  <dcterms:created xsi:type="dcterms:W3CDTF">2026-10-11T10:33:41Z</dcterms:created>
  <dcterms:modified xsi:type="dcterms:W3CDTF">2026-10-11T10:33:41Z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B6148733C1649156EC0BCA6A2BF45E8E_42</vt:lpwstr>
  </property>
</Properties>
</file>